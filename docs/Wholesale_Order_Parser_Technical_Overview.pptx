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30838347034561" /><Relationship Type="http://schemas.openxmlformats.org/officeDocument/2006/relationships/extended-properties" Target="/docProps/app.xml" Id="R8ca54adabed34b04" /><Relationship Type="http://schemas.openxmlformats.org/officeDocument/2006/relationships/officeDocument" Target="/ppt/presentation.xml" Id="R14fdb843eb22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fdbc02fb349d0"/>
  </p:sldMasterIdLst>
  <p:notesMasterIdLst>
    <p:notesMasterId xmlns:r="http://schemas.openxmlformats.org/officeDocument/2006/relationships" r:id="Rc500bb7eb3404acb"/>
  </p:notesMasterIdLst>
  <p:sldIdLst>
    <p:sldId xmlns:r="http://schemas.openxmlformats.org/officeDocument/2006/relationships" id="256" r:id="R0e8663e124fd4d31"/>
    <p:sldId xmlns:r="http://schemas.openxmlformats.org/officeDocument/2006/relationships" id="257" r:id="Ra6b7389130674dab"/>
    <p:sldId xmlns:r="http://schemas.openxmlformats.org/officeDocument/2006/relationships" id="258" r:id="R423751ab34a24a5a"/>
    <p:sldId xmlns:r="http://schemas.openxmlformats.org/officeDocument/2006/relationships" id="259" r:id="Rfc4b35d33ce34c52"/>
    <p:sldId xmlns:r="http://schemas.openxmlformats.org/officeDocument/2006/relationships" id="260" r:id="Rdc7c3b57c37e48b8"/>
    <p:sldId xmlns:r="http://schemas.openxmlformats.org/officeDocument/2006/relationships" id="261" r:id="R4898ca5003ff4d6d"/>
    <p:sldId xmlns:r="http://schemas.openxmlformats.org/officeDocument/2006/relationships" id="262" r:id="Rbe17eacabd764bfa"/>
    <p:sldId xmlns:r="http://schemas.openxmlformats.org/officeDocument/2006/relationships" id="263" r:id="R71b22238bb424b83"/>
    <p:sldId xmlns:r="http://schemas.openxmlformats.org/officeDocument/2006/relationships" id="264" r:id="Rabf0c8246e454e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0ce3b49364244" /><Relationship Type="http://schemas.openxmlformats.org/officeDocument/2006/relationships/slideMaster" Target="/ppt/slideMasters/slideMaster1.xml" Id="R642fdbc02fb349d0" /><Relationship Type="http://schemas.openxmlformats.org/officeDocument/2006/relationships/notesMaster" Target="/ppt/notesMasters/notesMaster1.xml" Id="Rc500bb7eb3404acb" /><Relationship Type="http://schemas.openxmlformats.org/officeDocument/2006/relationships/presProps" Target="/ppt/presProps.xml" Id="R05ba0ffc0a1d46e1" /><Relationship Type="http://schemas.openxmlformats.org/officeDocument/2006/relationships/tableStyles" Target="/ppt/tableStyles.xml" Id="R63adcb4cd5b644c4" /><Relationship Type="http://schemas.openxmlformats.org/officeDocument/2006/relationships/slide" Target="/ppt/slides/slide1.xml" Id="R0e8663e124fd4d31" /><Relationship Type="http://schemas.openxmlformats.org/officeDocument/2006/relationships/slide" Target="/ppt/slides/slide2.xml" Id="Ra6b7389130674dab" /><Relationship Type="http://schemas.openxmlformats.org/officeDocument/2006/relationships/slide" Target="/ppt/slides/slide3.xml" Id="R423751ab34a24a5a" /><Relationship Type="http://schemas.openxmlformats.org/officeDocument/2006/relationships/slide" Target="/ppt/slides/slide4.xml" Id="Rfc4b35d33ce34c52" /><Relationship Type="http://schemas.openxmlformats.org/officeDocument/2006/relationships/slide" Target="/ppt/slides/slide5.xml" Id="Rdc7c3b57c37e48b8" /><Relationship Type="http://schemas.openxmlformats.org/officeDocument/2006/relationships/slide" Target="/ppt/slides/slide6.xml" Id="R4898ca5003ff4d6d" /><Relationship Type="http://schemas.openxmlformats.org/officeDocument/2006/relationships/slide" Target="/ppt/slides/slide7.xml" Id="Rbe17eacabd764bfa" /><Relationship Type="http://schemas.openxmlformats.org/officeDocument/2006/relationships/slide" Target="/ppt/slides/slide8.xml" Id="R71b22238bb424b83" /><Relationship Type="http://schemas.openxmlformats.org/officeDocument/2006/relationships/slide" Target="/ppt/slides/slide9.xml" Id="Rabf0c8246e45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f14e0a4ca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85dad06714abd" /><Relationship Type="http://schemas.openxmlformats.org/officeDocument/2006/relationships/notesMaster" Target="/ppt/notesMasters/notesMaster1.xml" Id="R25c1709024d443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f2fb90d024598" /><Relationship Type="http://schemas.openxmlformats.org/officeDocument/2006/relationships/notesMaster" Target="/ppt/notesMasters/notesMaster1.xml" Id="R3a7fab0ba8a74b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ffb566e6754e1c" /><Relationship Type="http://schemas.openxmlformats.org/officeDocument/2006/relationships/notesMaster" Target="/ppt/notesMasters/notesMaster1.xml" Id="R631148391a6c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0fc8fdcf8e48c6" /><Relationship Type="http://schemas.openxmlformats.org/officeDocument/2006/relationships/notesMaster" Target="/ppt/notesMasters/notesMaster1.xml" Id="Ref52e2f1373d4a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0945f231ea4ae1" /><Relationship Type="http://schemas.openxmlformats.org/officeDocument/2006/relationships/notesMaster" Target="/ppt/notesMasters/notesMaster1.xml" Id="Rd8fa1f92598143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a13bfcee1c43d9" /><Relationship Type="http://schemas.openxmlformats.org/officeDocument/2006/relationships/notesMaster" Target="/ppt/notesMasters/notesMaster1.xml" Id="Ra197b95a08f244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519da16154878" /><Relationship Type="http://schemas.openxmlformats.org/officeDocument/2006/relationships/notesMaster" Target="/ppt/notesMasters/notesMaster1.xml" Id="R918d307b64484b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24e95eb149420b" /><Relationship Type="http://schemas.openxmlformats.org/officeDocument/2006/relationships/notesMaster" Target="/ppt/notesMasters/notesMaster1.xml" Id="Rdbba2375886146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a5f5f63cb6413d" /><Relationship Type="http://schemas.openxmlformats.org/officeDocument/2006/relationships/notesMaster" Target="/ppt/notesMasters/notesMaster1.xml" Id="R7240c87acfee49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product positioning and human-review contract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measured accuracy table</a:t>
            </a:r>
          </a:p>
          <a:p xmlns:a="http://schemas.openxmlformats.org/drawingml/2006/main">
            <a:r>
              <a:t>- app/database.py — approval provenance enforcement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linkedin-shot-01-input.png</a:t>
            </a:r>
          </a:p>
          <a:p xmlns:a="http://schemas.openxmlformats.org/drawingml/2006/main">
            <a:r>
              <a:t>- app/templates/index.html — order intake UI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architecture and product flow</a:t>
            </a:r>
          </a:p>
          <a:p xmlns:a="http://schemas.openxmlformats.org/drawingml/2006/main">
            <a:r>
              <a:t>- app/extractor.py</a:t>
            </a:r>
          </a:p>
          <a:p xmlns:a="http://schemas.openxmlformats.org/drawingml/2006/main">
            <a:r>
              <a:t>- app/matcher.py</a:t>
            </a:r>
          </a:p>
          <a:p xmlns:a="http://schemas.openxmlformats.org/drawingml/2006/main">
            <a:r>
              <a:t>- app/database.py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linkedin-shot-02-review.png</a:t>
            </a:r>
          </a:p>
          <a:p xmlns:a="http://schemas.openxmlformats.org/drawingml/2006/main">
            <a:r>
              <a:t>- app/database.py — line-decision and approval gates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pytest run: 329 passed</a:t>
            </a:r>
          </a:p>
          <a:p xmlns:a="http://schemas.openxmlformats.org/drawingml/2006/main">
            <a:r>
              <a:t>- Local pip-audit: no known vulnerabilities</a:t>
            </a:r>
          </a:p>
          <a:p xmlns:a="http://schemas.openxmlformats.org/drawingml/2006/main">
            <a:r>
              <a:t>- Local Ruff run: all checks passed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linkedin-shot-03-approved.png</a:t>
            </a:r>
          </a:p>
          <a:p xmlns:a="http://schemas.openxmlformats.org/drawingml/2006/main">
            <a:r>
              <a:t>- app/database.py — immutable approved snapshot</a:t>
            </a:r>
          </a:p>
          <a:p xmlns:a="http://schemas.openxmlformats.org/drawingml/2006/main">
            <a:r>
              <a:t>- app/main.py — POST-only audited exports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SECURITY.md</a:t>
            </a:r>
          </a:p>
          <a:p xmlns:a="http://schemas.openxmlformats.org/drawingml/2006/main">
            <a:r>
              <a:t>- app/security.py</a:t>
            </a:r>
          </a:p>
          <a:p xmlns:a="http://schemas.openxmlformats.org/drawingml/2006/main">
            <a:r>
              <a:t>- app/main.py</a:t>
            </a:r>
          </a:p>
          <a:p xmlns:a="http://schemas.openxmlformats.org/drawingml/2006/main">
            <a:r>
              <a:t>- .github/workflows/ci.yml</a:t>
            </a:r>
          </a:p>
          <a:p xmlns:a="http://schemas.openxmlformats.org/drawingml/2006/main">
            <a:r>
              <a:t>- .github/workflows/codeql.yml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DEPLOY.md — production checklist</a:t>
            </a:r>
          </a:p>
          <a:p xmlns:a="http://schemas.openxmlformats.org/drawingml/2006/main">
            <a:r>
              <a:t>- SECURITY.md — known limitations and publication 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3dfd6454f47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972e5cd8c46d1" /><Relationship Type="http://schemas.openxmlformats.org/officeDocument/2006/relationships/slideLayout" Target="/ppt/slideLayouts/slideLayout1.xml" Id="Rae6c22423f5645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c22423f5645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3be38462842c5" /><Relationship Type="http://schemas.openxmlformats.org/officeDocument/2006/relationships/notesSlide" Target="/ppt/notesSlides/notesSlide1.xml" Id="R64a09e47b837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5d9d617ed41eb" /><Relationship Type="http://schemas.openxmlformats.org/officeDocument/2006/relationships/notesSlide" Target="/ppt/notesSlides/notesSlide2.xml" Id="Rffe8386a4e0e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d08d0fe354a5b" /><Relationship Type="http://schemas.openxmlformats.org/officeDocument/2006/relationships/image" Target="/ppt/media/image.jpeg" Id="R3a2e8e6258374610" /><Relationship Type="http://schemas.openxmlformats.org/officeDocument/2006/relationships/notesSlide" Target="/ppt/notesSlides/notesSlide3.xml" Id="Rc206d3ade30540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1e443dd944394" /><Relationship Type="http://schemas.openxmlformats.org/officeDocument/2006/relationships/notesSlide" Target="/ppt/notesSlides/notesSlide4.xml" Id="Rf7214b9dd9104f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3dda942db46c8" /><Relationship Type="http://schemas.openxmlformats.org/officeDocument/2006/relationships/image" Target="/ppt/media/image2.jpeg" Id="R49b70c0671db40ae" /><Relationship Type="http://schemas.openxmlformats.org/officeDocument/2006/relationships/notesSlide" Target="/ppt/notesSlides/notesSlide5.xml" Id="Re4c531300d164a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6bb232744961" /><Relationship Type="http://schemas.openxmlformats.org/officeDocument/2006/relationships/notesSlide" Target="/ppt/notesSlides/notesSlide6.xml" Id="R567fbc7d5b1b4f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cac176ed64a17" /><Relationship Type="http://schemas.openxmlformats.org/officeDocument/2006/relationships/image" Target="/ppt/media/image3.jpeg" Id="R20db8492b766423f" /><Relationship Type="http://schemas.openxmlformats.org/officeDocument/2006/relationships/notesSlide" Target="/ppt/notesSlides/notesSlide7.xml" Id="R472bc6e595e045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70363e084823" /><Relationship Type="http://schemas.openxmlformats.org/officeDocument/2006/relationships/notesSlide" Target="/ppt/notesSlides/notesSlide8.xml" Id="Rbd391d3de5b140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088a004fb4147" /><Relationship Type="http://schemas.openxmlformats.org/officeDocument/2006/relationships/notesSlide" Target="/ppt/notesSlides/notesSlide9.xml" Id="Rb6f0a666b2dd4f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9918CE9-A410-414D-A6E4-F754B4A0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TECHNICAL OVERVIEW · PILOT READINESS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53596BB-F10B-4E91-8815-F7F56E7A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Wholesale Order</a:t>
            </a:r>
          </a:p>
          <a:p xmlns:a="http://schemas.openxmlformats.org/drawingml/2006/main">
            <a:pPr algn="l">
              <a:defRPr sz="58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98DC8BE-D66B-45B6-B2E5-D1617332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95825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Human-controlled automation for Egyptian Arabic wholesale orders</a:t>
            </a:r>
          </a:p>
          <a:p xmlns:a="http://schemas.openxmlformats.org/drawingml/2006/main">
            <a:pPr algn="l">
              <a:defRPr sz="19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Traceable by design · human authority by default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049A567-A38B-438C-A0B6-A09D2CF1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1000"/>
            <a:ext cx="136207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E1D1D9D2-1271-4F53-AAAB-A9EDFEBE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666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8563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BA8AC0A-76B1-4330-A044-8CB3BD3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Automation finds the neighborhood; the operator owns the decision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F77C6AB-41C0-4A17-9A2D-1A366781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9B340125-8683-4DD4-A303-3D4EF78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On a 400-SKU catalog of close variants, an automatic top-1 pick is not safe enough. The value is a short, high-recall shortlist with explicit human authority.</a:t>
            </a:r>
          </a:p>
        </p:txBody>
      </p:sp>
      <p:sp>
        <p:nvSpPr>
          <p:cNvPr id="4" name="problem-card-0">
            <a:extLst xmlns:a="http://schemas.openxmlformats.org/drawingml/2006/main">
              <a:ext uri="{FF2B5EF4-FFF2-40B4-BE49-F238E27FC236}">
                <a16:creationId xmlns:a16="http://schemas.microsoft.com/office/drawing/2014/main" id="{3F580980-34DD-4A7F-ABEB-8FA180C7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stat-0">
            <a:extLst xmlns:a="http://schemas.openxmlformats.org/drawingml/2006/main">
              <a:ext uri="{FF2B5EF4-FFF2-40B4-BE49-F238E27FC236}">
                <a16:creationId xmlns:a16="http://schemas.microsoft.com/office/drawing/2014/main" id="{07CDAEF3-7BD9-4D0E-93FD-F81E7BCB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48.4%</a:t>
            </a:r>
          </a:p>
        </p:txBody>
      </p:sp>
      <p:sp>
        <p:nvSpPr>
          <p:cNvPr id="6" name="problem-copy-0">
            <a:extLst xmlns:a="http://schemas.openxmlformats.org/drawingml/2006/main">
              <a:ext uri="{FF2B5EF4-FFF2-40B4-BE49-F238E27FC236}">
                <a16:creationId xmlns:a16="http://schemas.microsoft.com/office/drawing/2014/main" id="{259EEB6A-D272-4088-A92F-64F7606F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95825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top-1 accuracy</a:t>
            </a:r>
          </a:p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on close variants</a:t>
            </a:r>
          </a:p>
        </p:txBody>
      </p:sp>
      <p:sp>
        <p:nvSpPr>
          <p:cNvPr id="7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375CAD1B-EBF1-4B7C-A0B4-C65FB272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stat-1">
            <a:extLst xmlns:a="http://schemas.openxmlformats.org/drawingml/2006/main">
              <a:ext uri="{FF2B5EF4-FFF2-40B4-BE49-F238E27FC236}">
                <a16:creationId xmlns:a16="http://schemas.microsoft.com/office/drawing/2014/main" id="{D629F156-3473-4335-A048-B146B1B9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92.7%</a:t>
            </a:r>
          </a:p>
        </p:txBody>
      </p:sp>
      <p:sp>
        <p:nvSpPr>
          <p:cNvPr id="9" name="problem-copy-1">
            <a:extLst xmlns:a="http://schemas.openxmlformats.org/drawingml/2006/main">
              <a:ext uri="{FF2B5EF4-FFF2-40B4-BE49-F238E27FC236}">
                <a16:creationId xmlns:a16="http://schemas.microsoft.com/office/drawing/2014/main" id="{9C991F75-D900-4B80-9014-4194091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95825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correct SKU appears</a:t>
            </a:r>
          </a:p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inside the shown top-5</a:t>
            </a:r>
          </a:p>
        </p:txBody>
      </p:sp>
      <p:sp>
        <p:nvSpPr>
          <p:cNvPr id="10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9C1E804A-5E0B-485E-854D-2E38810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stat-2">
            <a:extLst xmlns:a="http://schemas.openxmlformats.org/drawingml/2006/main">
              <a:ext uri="{FF2B5EF4-FFF2-40B4-BE49-F238E27FC236}">
                <a16:creationId xmlns:a16="http://schemas.microsoft.com/office/drawing/2014/main" id="{A321FE0D-A9E8-4884-82C9-A1145DF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E9F6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E9F6E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2" name="problem-copy-2">
            <a:extLst xmlns:a="http://schemas.openxmlformats.org/drawingml/2006/main">
              <a:ext uri="{FF2B5EF4-FFF2-40B4-BE49-F238E27FC236}">
                <a16:creationId xmlns:a16="http://schemas.microsoft.com/office/drawing/2014/main" id="{5A8CB58C-D078-40C3-8F7E-E64AE75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5825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approved lines require</a:t>
            </a:r>
          </a:p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a signed human decision</a:t>
            </a:r>
          </a:p>
        </p:txBody>
      </p: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C6CD15C0-A222-46FE-9250-78652AA5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1942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nput-title">
            <a:extLst xmlns:a="http://schemas.openxmlformats.org/drawingml/2006/main">
              <a:ext uri="{FF2B5EF4-FFF2-40B4-BE49-F238E27FC236}">
                <a16:creationId xmlns:a16="http://schemas.microsoft.com/office/drawing/2014/main" id="{4F80840B-7492-4FD2-8763-81D4F39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The operator starts with the order exactly as the customer sent it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F1B74FB-BE04-43A9-8671-4A805E1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input-kicker">
            <a:extLst xmlns:a="http://schemas.openxmlformats.org/drawingml/2006/main">
              <a:ext uri="{FF2B5EF4-FFF2-40B4-BE49-F238E27FC236}">
                <a16:creationId xmlns:a16="http://schemas.microsoft.com/office/drawing/2014/main" id="{40640E2E-6466-4B2C-B9CE-2830F1AF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EVIDENCE · ORDER INTAKE</a:t>
            </a:r>
          </a:p>
        </p:txBody>
      </p:sp>
      <p:sp>
        <p:nvSpPr>
          <p:cNvPr id="4" name="input-body">
            <a:extLst xmlns:a="http://schemas.openxmlformats.org/drawingml/2006/main">
              <a:ext uri="{FF2B5EF4-FFF2-40B4-BE49-F238E27FC236}">
                <a16:creationId xmlns:a16="http://schemas.microsoft.com/office/drawing/2014/main" id="{B1B17F6B-0F00-4C8C-B0E6-8C1F173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479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Dialect, abbreviations, mixed units, and product nicknames stay visible. The model produces structure without hiding the original message.</a:t>
            </a:r>
          </a:p>
        </p:txBody>
      </p:sp>
      <p:sp>
        <p:nvSpPr>
          <p:cNvPr id="5" name="input-impact">
            <a:extLst xmlns:a="http://schemas.openxmlformats.org/drawingml/2006/main">
              <a:ext uri="{FF2B5EF4-FFF2-40B4-BE49-F238E27FC236}">
                <a16:creationId xmlns:a16="http://schemas.microsoft.com/office/drawing/2014/main" id="{61BDE1AC-1B42-49F2-B2AC-2D2A6B1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Why it matters: every later decision remains traceable to customer language.</a:t>
            </a:r>
          </a:p>
        </p:txBody>
      </p:sp>
      <p:sp>
        <p:nvSpPr>
          <p:cNvPr id="6" name="Arabic wholesale order intake screen-backing">
            <a:extLst xmlns:a="http://schemas.openxmlformats.org/drawingml/2006/main">
              <a:ext uri="{FF2B5EF4-FFF2-40B4-BE49-F238E27FC236}">
                <a16:creationId xmlns:a16="http://schemas.microsoft.com/office/drawing/2014/main" id="{69EBEFBE-FBEB-4E35-8A30-5DA1E63B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58769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01628"/>
          </a:solidFill>
          <a:ln xmlns:a="http://schemas.openxmlformats.org/drawingml/2006/main" w="9525">
            <a:solidFill>
              <a:srgbClr val="7657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e8e6258374610"/>
          <a:stretch xmlns:a="http://schemas.openxmlformats.org/drawingml/2006/main"/>
        </p:blipFill>
        <p:spPr>
          <a:xfrm xmlns:a="http://schemas.openxmlformats.org/drawingml/2006/main">
            <a:off x="5924550" y="2218011"/>
            <a:ext cx="5876925" cy="3307803"/>
          </a:xfrm>
          <a:prstGeom xmlns:a="http://schemas.openxmlformats.org/drawingml/2006/main" prst="roundRect">
            <a:avLst/>
          </a:prstGeom>
        </p:spPr>
      </p:pic>
      <p:sp>
        <p:nvSpPr>
          <p:cNvPr id="8" name="footer-3">
            <a:extLst xmlns:a="http://schemas.openxmlformats.org/drawingml/2006/main">
              <a:ext uri="{FF2B5EF4-FFF2-40B4-BE49-F238E27FC236}">
                <a16:creationId xmlns:a16="http://schemas.microsoft.com/office/drawing/2014/main" id="{028CDF91-F8C5-48C7-AC7F-B6F34F4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5796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FFA09FB-243E-48DA-BBC1-0867371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01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Inference informs; humans authorize</a:t>
            </a:r>
          </a:p>
        </p:txBody>
      </p:sp>
      <p:sp>
        <p:nvSpPr>
          <p:cNvPr id="2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69611F05-64C5-4BEE-A3AB-DC704C4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62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5C36C247-339A-46B6-B619-6848215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95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3B8A008A-9BB5-4255-8AE4-0A377A1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01 · UNDERSTAND</a:t>
            </a:r>
          </a:p>
        </p:txBody>
      </p:sp>
      <p:sp>
        <p:nvSpPr>
          <p:cNvPr id="5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6C4B49D1-1EC5-48C3-B60A-FF2E6F7E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095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Gemini extracts</a:t>
            </a:r>
          </a:p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product · quantity · unit</a:t>
            </a:r>
          </a:p>
        </p:txBody>
      </p:sp>
      <p:sp>
        <p:nvSpPr>
          <p:cNvPr id="6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B70AA936-D6CA-4B49-93DE-2CA959F8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00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Bounded input, retries, explicit unresolved text</a:t>
            </a:r>
          </a:p>
        </p:txBody>
      </p:sp>
      <p:sp>
        <p:nvSpPr>
          <p:cNvPr id="7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CC279C3F-108C-48C7-886C-7B9BD4FC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95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19127512-AFFA-46CA-85A4-4D60A056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0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02 · NARROW</a:t>
            </a:r>
          </a:p>
        </p:txBody>
      </p:sp>
      <p:sp>
        <p:nvSpPr>
          <p:cNvPr id="9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1124F19-660F-4E45-B36D-6AFD0CC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9095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RapidFuzz returns</a:t>
            </a:r>
          </a:p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the top-5 candidates</a:t>
            </a:r>
          </a:p>
        </p:txBody>
      </p:sp>
      <p:sp>
        <p:nvSpPr>
          <p:cNvPr id="10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D9C676B9-B48B-4E64-860F-8460039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00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The shortlist is advisory; no SKU is auto-approved</a:t>
            </a:r>
          </a:p>
        </p:txBody>
      </p:sp>
      <p:sp>
        <p:nvSpPr>
          <p:cNvPr id="11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2F16ACE-65E4-483F-92E7-1C7035F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95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F18BF89C-A211-4E7E-A7CB-67D3A1D3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00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03 · PROVE</a:t>
            </a:r>
          </a:p>
        </p:txBody>
      </p:sp>
      <p:sp>
        <p:nvSpPr>
          <p:cNvPr id="13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C2D7D4C-9576-48EA-8737-8C1EE02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9095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Operator confirms, corrects,</a:t>
            </a:r>
          </a:p>
          <a:p xmlns:a="http://schemas.openxmlformats.org/drawingml/2006/main">
            <a:pPr algn="l">
              <a:defRPr sz="18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or rejects every line</a:t>
            </a:r>
          </a:p>
        </p:txBody>
      </p:sp>
      <p:sp>
        <p:nvSpPr>
          <p:cNvPr id="14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699B7B61-801B-4A7C-A8C7-CC31EE65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00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One transaction freezes the audit trail and export snapshot</a:t>
            </a:r>
          </a:p>
        </p:txBody>
      </p:sp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4CD76CF1-E812-47DB-8185-9659250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6699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7AA0725A-6F4E-4528-B1C7-6090FDE2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The shortlist accelerates review; it never replaces it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B41D100-AABF-4BFC-8DC4-39412C9D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view-kicker">
            <a:extLst xmlns:a="http://schemas.openxmlformats.org/drawingml/2006/main">
              <a:ext uri="{FF2B5EF4-FFF2-40B4-BE49-F238E27FC236}">
                <a16:creationId xmlns:a16="http://schemas.microsoft.com/office/drawing/2014/main" id="{482B24E0-5030-4D86-99EC-3777E29C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EVIDENCE · HUMAN REVIEW</a:t>
            </a:r>
          </a:p>
        </p:txBody>
      </p:sp>
      <p:sp>
        <p:nvSpPr>
          <p:cNvPr id="4" name="review-body">
            <a:extLst xmlns:a="http://schemas.openxmlformats.org/drawingml/2006/main">
              <a:ext uri="{FF2B5EF4-FFF2-40B4-BE49-F238E27FC236}">
                <a16:creationId xmlns:a16="http://schemas.microsoft.com/office/drawing/2014/main" id="{9BA44E5C-8770-401F-8453-386BAEFB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479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Each line exposes the original text, proposed match, quantity, unit, price, confidence, and decision controls. Pending lines block approval.</a:t>
            </a:r>
          </a:p>
        </p:txBody>
      </p:sp>
      <p:sp>
        <p:nvSpPr>
          <p:cNvPr id="5" name="review-impact">
            <a:extLst xmlns:a="http://schemas.openxmlformats.org/drawingml/2006/main">
              <a:ext uri="{FF2B5EF4-FFF2-40B4-BE49-F238E27FC236}">
                <a16:creationId xmlns:a16="http://schemas.microsoft.com/office/drawing/2014/main" id="{D505043E-7C0A-4CC6-B3BF-5BAF4D0E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Commercial authority stays with a signed-in operator, not a confidence score.</a:t>
            </a:r>
          </a:p>
        </p:txBody>
      </p:sp>
      <p:sp>
        <p:nvSpPr>
          <p:cNvPr id="6" name="Mandatory human review screen-backing">
            <a:extLst xmlns:a="http://schemas.openxmlformats.org/drawingml/2006/main">
              <a:ext uri="{FF2B5EF4-FFF2-40B4-BE49-F238E27FC236}">
                <a16:creationId xmlns:a16="http://schemas.microsoft.com/office/drawing/2014/main" id="{0406B363-D880-4CFB-97C1-C7AC2EAA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58769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01628"/>
          </a:solidFill>
          <a:ln xmlns:a="http://schemas.openxmlformats.org/drawingml/2006/main" w="9525">
            <a:solidFill>
              <a:srgbClr val="7657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70c0671db40ae"/>
          <a:stretch xmlns:a="http://schemas.openxmlformats.org/drawingml/2006/main"/>
        </p:blipFill>
        <p:spPr>
          <a:xfrm xmlns:a="http://schemas.openxmlformats.org/drawingml/2006/main">
            <a:off x="5924550" y="2218011"/>
            <a:ext cx="5876925" cy="3307803"/>
          </a:xfrm>
          <a:prstGeom xmlns:a="http://schemas.openxmlformats.org/drawingml/2006/main" prst="roundRect">
            <a:avLst/>
          </a:prstGeom>
        </p:spPr>
      </p:pic>
      <p:sp>
        <p:nvSpPr>
          <p:cNvPr id="8" name="footer-5">
            <a:extLst xmlns:a="http://schemas.openxmlformats.org/drawingml/2006/main">
              <a:ext uri="{FF2B5EF4-FFF2-40B4-BE49-F238E27FC236}">
                <a16:creationId xmlns:a16="http://schemas.microsoft.com/office/drawing/2014/main" id="{1A86CE5C-28E5-444A-9CDB-8204573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4379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CBC54855-950F-4A64-9B2D-72F391B0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01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The current build clears every release gate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318F9DA-0032-4F90-A542-D677D60B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ality-body">
            <a:extLst xmlns:a="http://schemas.openxmlformats.org/drawingml/2006/main">
              <a:ext uri="{FF2B5EF4-FFF2-40B4-BE49-F238E27FC236}">
                <a16:creationId xmlns:a16="http://schemas.microsoft.com/office/drawing/2014/main" id="{316B6462-2875-45D0-A4FF-2A54CC40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Measured locally on 4 Aug 2026 after the security hardening in this audit. The live Gemini test stays separate because it consumes quota.</a:t>
            </a:r>
          </a:p>
        </p:txBody>
      </p:sp>
      <p:sp>
        <p:nvSpPr>
          <p:cNvPr id="4" name="quality-card-0">
            <a:extLst xmlns:a="http://schemas.openxmlformats.org/drawingml/2006/main">
              <a:ext uri="{FF2B5EF4-FFF2-40B4-BE49-F238E27FC236}">
                <a16:creationId xmlns:a16="http://schemas.microsoft.com/office/drawing/2014/main" id="{5AC6A089-C2D2-4B72-AB08-AB6012A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ality-stat-0">
            <a:extLst xmlns:a="http://schemas.openxmlformats.org/drawingml/2006/main">
              <a:ext uri="{FF2B5EF4-FFF2-40B4-BE49-F238E27FC236}">
                <a16:creationId xmlns:a16="http://schemas.microsoft.com/office/drawing/2014/main" id="{202E5403-E161-4113-8DD3-426489F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E9F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9F6E"/>
                </a:solidFill>
                <a:latin typeface="Arial"/>
                <a:ea typeface="Arial"/>
                <a:cs typeface="Arial"/>
              </a:rPr>
              <a:t>329</a:t>
            </a:r>
          </a:p>
        </p:txBody>
      </p:sp>
      <p:sp>
        <p:nvSpPr>
          <p:cNvPr id="6" name="quality-copy-0">
            <a:extLst xmlns:a="http://schemas.openxmlformats.org/drawingml/2006/main">
              <a:ext uri="{FF2B5EF4-FFF2-40B4-BE49-F238E27FC236}">
                <a16:creationId xmlns:a16="http://schemas.microsoft.com/office/drawing/2014/main" id="{1597605E-B0C1-4B73-9970-5C33F366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95825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offline tests passed</a:t>
            </a:r>
          </a:p>
        </p:txBody>
      </p:sp>
      <p:sp>
        <p:nvSpPr>
          <p:cNvPr id="7" name="quality-card-1">
            <a:extLst xmlns:a="http://schemas.openxmlformats.org/drawingml/2006/main">
              <a:ext uri="{FF2B5EF4-FFF2-40B4-BE49-F238E27FC236}">
                <a16:creationId xmlns:a16="http://schemas.microsoft.com/office/drawing/2014/main" id="{D7AD0CCE-548F-4E48-AC38-36DAFFE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ality-stat-1">
            <a:extLst xmlns:a="http://schemas.openxmlformats.org/drawingml/2006/main">
              <a:ext uri="{FF2B5EF4-FFF2-40B4-BE49-F238E27FC236}">
                <a16:creationId xmlns:a16="http://schemas.microsoft.com/office/drawing/2014/main" id="{71DB0B98-FA6C-455D-BF07-518C2A7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E9F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9F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quality-copy-1">
            <a:extLst xmlns:a="http://schemas.openxmlformats.org/drawingml/2006/main">
              <a:ext uri="{FF2B5EF4-FFF2-40B4-BE49-F238E27FC236}">
                <a16:creationId xmlns:a16="http://schemas.microsoft.com/office/drawing/2014/main" id="{A0E81DEA-0351-4F71-B321-C933F01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95825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known dependency vulnerabilities</a:t>
            </a:r>
          </a:p>
        </p:txBody>
      </p:sp>
      <p:sp>
        <p:nvSpPr>
          <p:cNvPr id="10" name="quality-card-2">
            <a:extLst xmlns:a="http://schemas.openxmlformats.org/drawingml/2006/main">
              <a:ext uri="{FF2B5EF4-FFF2-40B4-BE49-F238E27FC236}">
                <a16:creationId xmlns:a16="http://schemas.microsoft.com/office/drawing/2014/main" id="{1688B5F0-A1B2-45C3-8DCB-974B646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28950"/>
            <a:ext cx="3571875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ality-stat-2">
            <a:extLst xmlns:a="http://schemas.openxmlformats.org/drawingml/2006/main">
              <a:ext uri="{FF2B5EF4-FFF2-40B4-BE49-F238E27FC236}">
                <a16:creationId xmlns:a16="http://schemas.microsoft.com/office/drawing/2014/main" id="{D98795DD-44B0-4B36-A28B-0952B70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29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E9F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E9F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quality-copy-2">
            <a:extLst xmlns:a="http://schemas.openxmlformats.org/drawingml/2006/main">
              <a:ext uri="{FF2B5EF4-FFF2-40B4-BE49-F238E27FC236}">
                <a16:creationId xmlns:a16="http://schemas.microsoft.com/office/drawing/2014/main" id="{032E62C1-C66C-485E-97F6-270F971D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5825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Ruff findings remaining</a:t>
            </a:r>
          </a:p>
        </p:txBody>
      </p:sp>
      <p:sp>
        <p:nvSpPr>
          <p:cNvPr id="13" name="footer-6">
            <a:extLst xmlns:a="http://schemas.openxmlformats.org/drawingml/2006/main">
              <a:ext uri="{FF2B5EF4-FFF2-40B4-BE49-F238E27FC236}">
                <a16:creationId xmlns:a16="http://schemas.microsoft.com/office/drawing/2014/main" id="{CD9AD4B7-CD5C-4ADB-AFCB-F94B3EE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1863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roved-title">
            <a:extLst xmlns:a="http://schemas.openxmlformats.org/drawingml/2006/main">
              <a:ext uri="{FF2B5EF4-FFF2-40B4-BE49-F238E27FC236}">
                <a16:creationId xmlns:a16="http://schemas.microsoft.com/office/drawing/2014/main" id="{5F30B8D1-2B7A-47F5-A787-3FE69B12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Approval freezes a warehouse-ready, attributable record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7F6C5A1-A0B9-49A2-8B75-6C3AD2A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pproved-kicker">
            <a:extLst xmlns:a="http://schemas.openxmlformats.org/drawingml/2006/main">
              <a:ext uri="{FF2B5EF4-FFF2-40B4-BE49-F238E27FC236}">
                <a16:creationId xmlns:a16="http://schemas.microsoft.com/office/drawing/2014/main" id="{7A19F058-D228-4795-95EB-5AF55BC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EVIDENCE · APPROVED STATE</a:t>
            </a:r>
          </a:p>
        </p:txBody>
      </p:sp>
      <p:sp>
        <p:nvSpPr>
          <p:cNvPr id="4" name="approved-body">
            <a:extLst xmlns:a="http://schemas.openxmlformats.org/drawingml/2006/main">
              <a:ext uri="{FF2B5EF4-FFF2-40B4-BE49-F238E27FC236}">
                <a16:creationId xmlns:a16="http://schemas.microsoft.com/office/drawing/2014/main" id="{467CFC3C-F6D2-4ADE-BD4D-B4B4C3D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479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Approval, audit event, financials, and the immutable line snapshot commit together. Later catalog changes cannot rewrite history.</a:t>
            </a:r>
          </a:p>
        </p:txBody>
      </p:sp>
      <p:sp>
        <p:nvSpPr>
          <p:cNvPr id="5" name="approved-impact">
            <a:extLst xmlns:a="http://schemas.openxmlformats.org/drawingml/2006/main">
              <a:ext uri="{FF2B5EF4-FFF2-40B4-BE49-F238E27FC236}">
                <a16:creationId xmlns:a16="http://schemas.microsoft.com/office/drawing/2014/main" id="{D030A46C-C2DA-4D04-997D-D512C5C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Exports re-check provenance and record their own audit event before bytes leave the system.</a:t>
            </a:r>
          </a:p>
        </p:txBody>
      </p:sp>
      <p:sp>
        <p:nvSpPr>
          <p:cNvPr id="6" name="Approved wholesale order screen-backing">
            <a:extLst xmlns:a="http://schemas.openxmlformats.org/drawingml/2006/main">
              <a:ext uri="{FF2B5EF4-FFF2-40B4-BE49-F238E27FC236}">
                <a16:creationId xmlns:a16="http://schemas.microsoft.com/office/drawing/2014/main" id="{4D3D83AA-D6C9-45C8-9102-3723F89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58769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01628"/>
          </a:solidFill>
          <a:ln xmlns:a="http://schemas.openxmlformats.org/drawingml/2006/main" w="9525">
            <a:solidFill>
              <a:srgbClr val="7657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b8492b766423f"/>
          <a:stretch xmlns:a="http://schemas.openxmlformats.org/drawingml/2006/main"/>
        </p:blipFill>
        <p:spPr>
          <a:xfrm xmlns:a="http://schemas.openxmlformats.org/drawingml/2006/main">
            <a:off x="5924550" y="2218011"/>
            <a:ext cx="5876925" cy="3307803"/>
          </a:xfrm>
          <a:prstGeom xmlns:a="http://schemas.openxmlformats.org/drawingml/2006/main" prst="roundRect">
            <a:avLst/>
          </a:prstGeom>
        </p:spPr>
      </p:pic>
      <p:sp>
        <p:nvSpPr>
          <p:cNvPr id="8" name="footer-7">
            <a:extLst xmlns:a="http://schemas.openxmlformats.org/drawingml/2006/main">
              <a:ext uri="{FF2B5EF4-FFF2-40B4-BE49-F238E27FC236}">
                <a16:creationId xmlns:a16="http://schemas.microsoft.com/office/drawing/2014/main" id="{5CCF72CC-123E-49DD-A1FA-2E1D91C9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5034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9392042E-FC80-4D06-AB4D-44E1C09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Security is enforced in the request path</a:t>
            </a:r>
          </a:p>
        </p:txBody>
      </p:sp>
      <p:sp>
        <p:nvSpPr>
          <p:cNvPr id="2" name="security-body">
            <a:extLst xmlns:a="http://schemas.openxmlformats.org/drawingml/2006/main">
              <a:ext uri="{FF2B5EF4-FFF2-40B4-BE49-F238E27FC236}">
                <a16:creationId xmlns:a16="http://schemas.microsoft.com/office/drawing/2014/main" id="{E193C13B-42FB-415E-82B9-80292069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The design closes the most likely failure modes for a single-tenant pilot while naming what remains out of scope.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8766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3429000"/>
                <a:gridCol w="3048000"/>
                <a:gridCol w="2924175"/>
              </a:tblGrid>
              <a:tr h="5538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85725" marR="85725" marT="76200" marB="76200">
                    <a:solidFill>
                      <a:srgbClr val="0A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ENFORCEMENT</a:t>
                      </a:r>
                    </a:p>
                  </a:txBody>
                  <a:tcPr marL="85725" marR="85725" marT="76200" marB="76200">
                    <a:solidFill>
                      <a:srgbClr val="0A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 CLOSED</a:t>
                      </a:r>
                    </a:p>
                  </a:txBody>
                  <a:tcPr marL="85725" marR="85725" marT="76200" marB="76200">
                    <a:solidFill>
                      <a:srgbClr val="0A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85725" marR="85725" marT="76200" marB="76200">
                    <a:solidFill>
                      <a:srgbClr val="0A0D18"/>
                    </a:solidFill>
                  </a:tcPr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Authentication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Signed session on every data route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Anonymous access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Route-table tests</a:t>
                      </a:r>
                    </a:p>
                  </a:txBody>
                  <a:tcPr marL="76200" marR="76200" marT="66675" marB="66675"/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Human authority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Session identity + action id + decision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Forged reviewer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Transactional audit</a:t>
                      </a:r>
                    </a:p>
                  </a:txBody>
                  <a:tcPr marL="76200" marR="76200" marT="66675" marB="66675"/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Browser boundary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CSRF + CSP + anti-framing + no-store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Cross-site writes / UI embedding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Security tests</a:t>
                      </a:r>
                    </a:p>
                  </a:txBody>
                  <a:tcPr marL="76200" marR="76200" marT="66675" marB="66675"/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Output safety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HTML escaping + CSV formula neutralisation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Stored XSS / spreadsheet injection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Regression tests</a:t>
                      </a:r>
                    </a:p>
                  </a:txBody>
                  <a:tcPr marL="76200" marR="76200" marT="66675" marB="66675"/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Export integrity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POST + provenance re-check + frozen snapshot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State-changing GET / catalog drift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Export audit hash</a:t>
                      </a:r>
                    </a:p>
                  </a:txBody>
                  <a:tcPr marL="76200" marR="76200" marT="66675" marB="66675"/>
                </a:tc>
              </a:tr>
              <a:tr h="5538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Supply chain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Ruff · pip-audit · CodeQL · Dependabot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Known vulnerable dependencies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D18"/>
                          </a:solidFill>
                        </a:rPr>
                        <a:t>GitHub gates</a:t>
                      </a:r>
                    </a:p>
                  </a:txBody>
                  <a:tcPr marL="76200" marR="76200" marT="66675" marB="66675"/>
                </a:tc>
              </a:tr>
            </a:tbl>
          </a:graphicData>
        </a:graphic>
      </p:graphicFrame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008C6ED-862E-466C-BA3E-738EF10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57873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827F4D8-5BC3-4104-8131-4105BDE3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6A02FE2-168B-43C8-95CD-E703520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Pilot-ready —</a:t>
            </a:r>
          </a:p>
          <a:p xmlns:a="http://schemas.openxmlformats.org/drawingml/2006/main">
            <a:pPr algn="l">
              <a:defRPr sz="5250" b="1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A0D18"/>
                </a:solidFill>
                <a:latin typeface="Arial"/>
                <a:ea typeface="Arial"/>
                <a:cs typeface="Arial"/>
              </a:rPr>
              <a:t>with explicit boundaries</a:t>
            </a:r>
          </a:p>
        </p:txBody>
      </p:sp>
      <p:sp>
        <p:nvSpPr>
          <p:cNvPr id="3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EC32EBFF-F535-41F0-BDEC-5BF27BC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847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01  Set production secrets + HTTPS-only cookies</a:t>
            </a:r>
          </a:p>
          <a:p xmlns:a="http://schemas.openxmlformats.org/drawingml/2006/main">
            <a:pPr algn="l">
              <a:defRPr sz="1725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02  Mount persistent storage for SQLite</a:t>
            </a:r>
          </a:p>
          <a:p xmlns:a="http://schemas.openxmlformats.org/drawingml/2006/main">
            <a:pPr algn="l">
              <a:defRPr sz="1725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03  Keep one merchant per deployment</a:t>
            </a:r>
          </a:p>
          <a:p xmlns:a="http://schemas.openxmlformats.org/drawingml/2006/main">
            <a:pPr algn="l">
              <a:defRPr sz="1725" b="0">
                <a:solidFill>
                  <a:srgbClr val="0A0D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D18"/>
                </a:solidFill>
                <a:latin typeface="Arial"/>
                <a:ea typeface="Arial"/>
                <a:cs typeface="Arial"/>
              </a:rPr>
              <a:t>04  Choose repository visibility and license before public release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B8C324E-0EEA-4D60-AB20-023831C0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7907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385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2026-08-04T19:29:32.4400000Z</dcterms:created>
  <dcterms:modified xsi:type="dcterms:W3CDTF">2026-08-04T19:29:32.4400000Z</dcterms:modified>
</coreProperties>
</file>